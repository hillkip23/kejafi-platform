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37660"/>
            <a:ext cx="9144000" cy="1005840"/>
          </a:xfrm>
          <a:prstGeom prst="rect">
            <a:avLst/>
          </a:prstGeom>
          <a:solidFill>
            <a:srgbClr val="16203A"/>
          </a:solidFill>
          <a:ln w="12700">
            <a:solidFill>
              <a:srgbClr val="162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Platform for Tokenized Real Estate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Metro Risk Analysis to On-Chain Asset Management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33472"/>
            <a:ext cx="5943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Hillary Cheruiyot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Mathematical Finance  ·  UNC Charlotte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Economics: MSRE/ECON/MBAD 6238  ·  Spring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Chandler Lutz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662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kejafi-stage2.streamlit.app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Agenda  |  Hillary Cheruiyot  |  MSRE/ECON/MBAD 6238 · Spring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3441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289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563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illiquidity, access barriers, and analytics gaps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391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39112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148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093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368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architecture: Research → Tokenize → Manage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4378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43784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" y="29535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Risk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172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processes, population growth, supply elasticity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6484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48456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37581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703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Tokenization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valuation, token economics, Uniswap V3 deployment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12344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234440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13441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1289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1563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VaR, Sharpe ratio, diversification score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0391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039112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5464" y="2148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2093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2368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IRR, risk metrics, and key empirical conclusions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84378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2843784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29535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03520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3172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urban economics and future directions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Real Estate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tokenization matters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Motivation  |  Hillary Cheruiyot  |  MSRE/ECON/MBAD 6238 · Spring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560320" cy="3291840"/>
          </a:xfrm>
          <a:prstGeom prst="rect">
            <a:avLst/>
          </a:prstGeom>
          <a:solidFill>
            <a:srgbClr val="1E276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Real Estate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20116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0632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asset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 the world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yet the least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5532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34440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ILLIQUIDITY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307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 to sell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16184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locked, no exit flexibility for investors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2350008"/>
            <a:ext cx="5532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2350008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BARRIERS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$100K+ minimum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273405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excluded from direct ownership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465576"/>
            <a:ext cx="5532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465576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3538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risk metrics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384962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RE lacks rigorous quantitative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integrated stages from research to on-chain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Platform Overview  |  Hillary Cheruiyot  |  MSRE/ECON/MBAD 6238 · Spring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310128" y="265176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487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7648" y="265176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87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170432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170432"/>
            <a:ext cx="2697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207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" y="13716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Risk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139696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08483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Ornstein-Uhlenbeck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dynamics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798064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74320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40156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elasticity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05993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Risk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(0–100)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1170432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1170432"/>
            <a:ext cx="26974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207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64992" y="13716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29000" y="213969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5888" y="208483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NOI-based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29000" y="279806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75888" y="274320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projection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(5-year)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29000" y="345643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75888" y="340156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token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29000" y="411480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75888" y="405993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Uniswap V3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 liquidity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1170432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1170432"/>
            <a:ext cx="2697480" cy="7772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12070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336792" y="13716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0" y="2139696"/>
            <a:ext cx="164592" cy="164592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47688" y="208483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(10K)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0" y="2798064"/>
            <a:ext cx="164592" cy="164592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47688" y="274320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(95% VaR)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0" y="3456432"/>
            <a:ext cx="164592" cy="164592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7688" y="340156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0" y="4114800"/>
            <a:ext cx="164592" cy="164592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7688" y="405993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(0–100)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64592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809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Risk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modelling of rental market dynamics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03A"/>
          </a:solidFill>
          <a:ln w="12700">
            <a:solidFill>
              <a:srgbClr val="162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Hillary Cheruiyot  |  MSRE/ECON/MBAD 6238 · Spring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Ornstein-Uhlenbeck Rent Dynamics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Mean-reverting stochastic model with metro adjustments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Methodology  |  Hillary Cheruiyot  |  MSRE/ECON/MBAD 6238 · Spring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68580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618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 =  κ(θ − X )dt  +  σ dW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03120"/>
            <a:ext cx="19659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305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rents return to equilibrium after a shock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96312" y="210312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2103120"/>
            <a:ext cx="19659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1305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87752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Rent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87752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upward by population growth: θ + 0.5·g_pop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26864" y="210312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2103120"/>
            <a:ext cx="19659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21305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18304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Volatility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by supply elasticity: σ × (1 + (0.30 − ε))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57416" y="210312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57416" y="2103120"/>
            <a:ext cx="19659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21305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848856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48856" y="33375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random shock component (Wiener process)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Risk Analysis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· Austin · San Francisco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Stage 1 Results  |  Hillary Cheruiyot  |  MSRE/ECON/MBAD 6238 · Spring 2026</a:t>
            </a:r>
            <a:endParaRPr lang="en-US" sz="750" dirty="0"/>
          </a:p>
        </p:txBody>
      </p:sp>
      <p:pic>
        <p:nvPicPr>
          <p:cNvPr id="8" name="Image 0" descr="/home/claude/figure1_metro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15568"/>
            <a:ext cx="850392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4480560"/>
            <a:ext cx="8503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49884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Population growth explains 73% of long-run rent variation (R² = 0.73, p &lt; 0.01)  ·  Inelastic markets show 40–50% higher volatility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64592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809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Tokenization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NOI valuation to live on-chain deployment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03A"/>
          </a:solidFill>
          <a:ln w="12700">
            <a:solidFill>
              <a:srgbClr val="162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Hillary Cheruiyot  |  MSRE/ECON/MBAD 6238 · Spring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Valuation &amp; Token Economics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capitalisation model + ERC-20 deployment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Stage 2 Methodology  |  Hillary Cheruiyot  |  MSRE/ECON/MBAD 6238 · Spring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Operating Income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17904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= (Rent × 12 × Occupancy) − OpEx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8562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OpEx: taxes + insurance + maintenance + mgmt fees (8%)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3172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957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Valuation (Direct Capitalisation)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660904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NOI_stabilised / Cap Rate_metro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9992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 calibrated to metro supply elasticity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4747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474720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387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03904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P_token = (V × 0.80) / 100,000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1422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collateralisation ratio · 100K tokens per property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 Parameters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4114800" cy="2834640"/>
        </p:xfrm>
        <a:graphic>
          <a:graphicData uri="http://schemas.openxmlformats.org/drawingml/2006/table">
            <a:tbl>
              <a:tblPr/>
              <a:tblGrid>
                <a:gridCol w="1645920"/>
                <a:gridCol w="1234440"/>
                <a:gridCol w="123444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FINE5 (Charlotte)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FINE6 (Austin)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Supply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 (USDC)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AMM Fee 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Lockup Period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Sepolia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Valuation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FINE5 (Charlotte) vs. FINE6 (Austin)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Stage 2 Results  |  Hillary Cheruiyot  |  MSRE/ECON/MBAD 6238 · Spring 2026</a:t>
            </a:r>
            <a:endParaRPr lang="en-US" sz="750" dirty="0"/>
          </a:p>
        </p:txBody>
      </p:sp>
      <p:pic>
        <p:nvPicPr>
          <p:cNvPr id="8" name="Image 0" descr="/home/claude/figure2_property_val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15568"/>
            <a:ext cx="8503920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4251960"/>
            <a:ext cx="1920240" cy="566928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93192" y="4325112"/>
            <a:ext cx="17739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$685K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93192" y="4580778"/>
            <a:ext cx="1773936" cy="21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Value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68880" y="4251960"/>
            <a:ext cx="1920240" cy="566928"/>
          </a:xfrm>
          <a:prstGeom prst="rect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542032" y="4325112"/>
            <a:ext cx="17739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542032" y="4580778"/>
            <a:ext cx="1773936" cy="21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IRR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17720" y="4251960"/>
            <a:ext cx="1920240" cy="566928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90872" y="4325112"/>
            <a:ext cx="17739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$1.25M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690872" y="4580778"/>
            <a:ext cx="1773936" cy="21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Value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766560" y="4251960"/>
            <a:ext cx="1920240" cy="566928"/>
          </a:xfrm>
          <a:prstGeom prst="rect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39712" y="4325112"/>
            <a:ext cx="1773936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839712" y="4580778"/>
            <a:ext cx="1773936" cy="21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IRR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 &amp; Smart Contract Deployment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ERC-20 + Uniswap V3 on Sepolia Testnet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On-Chain Deployment  |  Hillary Cheruiyot  |  MSRE/ECON/MBAD 6238 · Spring 2026</a:t>
            </a:r>
            <a:endParaRPr lang="en-US" sz="750" dirty="0"/>
          </a:p>
        </p:txBody>
      </p:sp>
      <p:pic>
        <p:nvPicPr>
          <p:cNvPr id="8" name="Image 0" descr="/home/claude/figure6_token_econo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15568"/>
            <a:ext cx="502920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0" y="1115568"/>
            <a:ext cx="3246120" cy="274320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2070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(Sepolia)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59168" y="16276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(Chain ID: 11155111)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6928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Uniswap V3 Pool: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59168" y="2029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0x0Bf78f76...D30968e27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FINE5 Token: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59168" y="2432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0x0FB987BE...Be483dd2E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FINE6 Token: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59168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0xe051C1eA...Aa20692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669280" y="3236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Cost: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59168" y="32369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~$145 (30 Gwei, ETH $3K)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4005072"/>
            <a:ext cx="8503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050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cost ($145 in gas) is economically viable relative to asset values of $685K–$1.25M  ·  80% collateralisation ratio provides equity buffer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64592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809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simulation, VaR, and diversification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03A"/>
          </a:solidFill>
          <a:ln w="12700">
            <a:solidFill>
              <a:srgbClr val="162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Hillary Cheruiyot  |  MSRE/ECON/MBAD 6238 · Spring 2026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Portfolio Simulation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scenarios with correlated return shocks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Stage 3 Analytics  |  Hillary Cheruiyot  |  MSRE/ECON/MBAD 6238 · Spring 2026</a:t>
            </a:r>
            <a:endParaRPr lang="en-US" sz="750" dirty="0"/>
          </a:p>
        </p:txBody>
      </p:sp>
      <p:pic>
        <p:nvPicPr>
          <p:cNvPr id="8" name="Image 0" descr="/home/claude/figure4_monte_car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15568"/>
            <a:ext cx="621792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66560" y="1170432"/>
            <a:ext cx="2029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12280" y="121615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12280" y="15544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766560" y="2011680"/>
            <a:ext cx="2029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12280" y="20574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812280" y="23957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0" y="2852928"/>
            <a:ext cx="2029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12280" y="28986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-12.8%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12280" y="323697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66560" y="3694176"/>
            <a:ext cx="20299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12280" y="373989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12280" y="40782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Loss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Allocation &amp; Diversification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Two-asset, two-metro tokenized portfolio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Stage 3 Analytics  |  Hillary Cheruiyot  |  MSRE/ECON/MBAD 6238 · Spring 2026</a:t>
            </a:r>
            <a:endParaRPr lang="en-US" sz="750" dirty="0"/>
          </a:p>
        </p:txBody>
      </p:sp>
      <p:pic>
        <p:nvPicPr>
          <p:cNvPr id="8" name="Image 0" descr="/home/claude/figure3_portfolio_al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15568"/>
            <a:ext cx="5303520" cy="2560320"/>
          </a:xfrm>
          <a:prstGeom prst="rect">
            <a:avLst/>
          </a:prstGeom>
        </p:spPr>
      </p:pic>
      <p:pic>
        <p:nvPicPr>
          <p:cNvPr id="9" name="Image 1" descr="/home/claude/figure5_diversification_sc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15568"/>
            <a:ext cx="3063240" cy="2560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3840480"/>
            <a:ext cx="1572768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93192" y="3913632"/>
            <a:ext cx="1426464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$193,486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93192" y="4344314"/>
            <a:ext cx="142646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Portfolio Value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039112" y="3840480"/>
            <a:ext cx="1572768" cy="868680"/>
          </a:xfrm>
          <a:prstGeom prst="rect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112264" y="3913632"/>
            <a:ext cx="1426464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112264" y="4344314"/>
            <a:ext cx="142646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758184" y="3840480"/>
            <a:ext cx="1572768" cy="868680"/>
          </a:xfrm>
          <a:prstGeom prst="rect">
            <a:avLst/>
          </a:prstGeom>
          <a:solidFill>
            <a:srgbClr val="2C3E5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831336" y="3913632"/>
            <a:ext cx="1426464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-8.2%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831336" y="4344314"/>
            <a:ext cx="142646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95% (Param.)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477256" y="3840480"/>
            <a:ext cx="1572768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550408" y="3913632"/>
            <a:ext cx="1426464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50/100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5550408" y="4344314"/>
            <a:ext cx="142646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Score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196328" y="3840480"/>
            <a:ext cx="1572768" cy="868680"/>
          </a:xfrm>
          <a:prstGeom prst="rect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269480" y="3913632"/>
            <a:ext cx="1426464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7269480" y="4344314"/>
            <a:ext cx="142646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Reduction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Diversification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and simulation results summary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Results  |  Hillary Cheruiyot  |  MSRE/ECON/MBAD 6238 · Spring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0690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34440"/>
            <a:ext cx="4069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984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325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 Drives Rents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0.73 (p &lt; 0.01) — population growth explains 73% of long-run rent variation across US metros. Austin (13.9% growth) leads all study markets.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34440"/>
            <a:ext cx="40690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34440"/>
            <a:ext cx="40690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984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1325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Determines Volatility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(ε = 0.08) shows 15.2% rent volatility vs. Charlotte's 8.5%. Inelastic markets exhibit 40–50% higher volatility.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07208"/>
            <a:ext cx="40690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07208"/>
            <a:ext cx="4069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712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8986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is Economically Viable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IRRs of 12.3% (FINE5) and 14.1% (FINE6) substantially exceed the 5% risk-free rate. Sharpe ratio of 0.77 is competitive with broad equity indices.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807208"/>
            <a:ext cx="40690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807208"/>
            <a:ext cx="40690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8712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28986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Reduces VaR by 32%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4015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Cross-metro allocation reduces portfolio VaR from single-asset levels by 32%, validating geographic diversification in tokenised real estate.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 and the road ahead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Platform  |  Discussion  |  Hillary Cheruiyot  |  MSRE/ECON/MBAD 6238 · Spring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023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627632"/>
            <a:ext cx="6400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1907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window: Austin ZORI data only from 2015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76272"/>
            <a:ext cx="6400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6771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set exogenously (ρ = 0.10) — may rise in stress periods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72491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24912"/>
            <a:ext cx="6400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1635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oracle integration (static cap rate / pop inputs)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27355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273552"/>
            <a:ext cx="6400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36499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only — mainnet requires regulatory compliance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22192"/>
            <a:ext cx="6400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91363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parameters estimated from limited shock events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18872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162763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1627632"/>
            <a:ext cx="640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71907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deployment with Reg D / Reg A+ compliance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17627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176272"/>
            <a:ext cx="640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26771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oracles for live rent &amp; cap rate data feeds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272491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2724912"/>
            <a:ext cx="640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81635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(LSTM, gradient boosting) for rent prediction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327355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273552"/>
            <a:ext cx="640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36499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50+ US metros for higher diversification scores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82219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822192"/>
            <a:ext cx="640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91363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African market expansion (Kenya, Tanzania, Rwanda)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 provides a replicable template for the next generation of RWA tokenisation platforms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44168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platform integrates OU stochastic modelling, live Uniswap V3 deployment, and institutional-grade portfolio analytics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29968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 (R² = 0.73) and supply elasticity are the two dominant drivers of urban rental market 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15768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is economically viable: IRRs of 12.3–14.1%, Sharpe ratio 0.77, gas cost $145 vs. asset values of $685K–$1.25M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4728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01568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diversification reduces portfolio VaR by 32%, validating cross-metro allocation in tokenised real estate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3210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879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kejafi-stage2.streamlit.app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GitHub: 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github.com/Hillkip23/kejafi-platform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Hillary Cheruiyot · MSRE/ECON/MBAD 6238 · Prof. Chandler Lutz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Kejafi: Tokenized Real Estate Platform</dc:title>
  <dc:subject>PptxGenJS Presentation</dc:subject>
  <dc:creator>Hillary Cheruiyot</dc:creator>
  <cp:lastModifiedBy>Hillary Cheruiyot</cp:lastModifiedBy>
  <cp:revision>1</cp:revision>
  <dcterms:created xsi:type="dcterms:W3CDTF">2026-04-14T08:46:55Z</dcterms:created>
  <dcterms:modified xsi:type="dcterms:W3CDTF">2026-04-14T08:46:55Z</dcterms:modified>
</cp:coreProperties>
</file>